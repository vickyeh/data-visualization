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
      <p:font typeface="Oswald" panose="00000500000000000000" pitchFamily="2" charset="0"/>
      <p:regular r:id="rId24"/>
      <p:bold r:id="rId25"/>
    </p:embeddedFont>
    <p:embeddedFont>
      <p:font typeface="Oswald Light" panose="00000400000000000000" pitchFamily="2" charset="0"/>
      <p:regular r:id="rId26"/>
      <p:bold r:id="rId27"/>
    </p:embeddedFont>
    <p:embeddedFont>
      <p:font typeface="Oswald SemiBold" panose="00000700000000000000" pitchFamily="2" charset="0"/>
      <p:regular r:id="rId28"/>
      <p:bold r:id="rId29"/>
    </p:embeddedFont>
    <p:embeddedFont>
      <p:font typeface="Playfair Display" panose="00000500000000000000" pitchFamily="2" charset="0"/>
      <p:regular r:id="rId30"/>
      <p:bold r:id="rId31"/>
      <p:italic r:id="rId32"/>
      <p:boldItalic r:id="rId33"/>
    </p:embeddedFon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858"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viewProps" Target="viewProp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heart.org/en/news/2019/01/31/cardiovascular-diseases-affect-nearly-half-of-american-adults-statistics-show"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bed453da24_3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bed453da24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6a08a11398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6a08a11398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595959"/>
                </a:solidFill>
              </a:rPr>
              <a:t>~1-3 sentence overview of your project goal</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Can include screenshots, images, animated gifs</a:t>
            </a:r>
            <a:endParaRPr>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a:solidFill>
                  <a:srgbClr val="595959"/>
                </a:solidFill>
              </a:rPr>
              <a:t>Should be a quick overview before going to next slide</a:t>
            </a:r>
            <a:endParaRPr sz="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6a08a11398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6a08a11398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400">
              <a:solidFill>
                <a:srgbClr val="595959"/>
              </a:solidFill>
            </a:endParaRPr>
          </a:p>
          <a:p>
            <a:pPr marL="457200" lvl="0" indent="-342900" algn="l" rtl="0">
              <a:lnSpc>
                <a:spcPct val="115000"/>
              </a:lnSpc>
              <a:spcBef>
                <a:spcPts val="1200"/>
              </a:spcBef>
              <a:spcAft>
                <a:spcPts val="0"/>
              </a:spcAft>
              <a:buClr>
                <a:srgbClr val="5E696C"/>
              </a:buClr>
              <a:buSzPts val="1800"/>
              <a:buFont typeface="Lato"/>
              <a:buChar char="●"/>
            </a:pPr>
            <a:r>
              <a:rPr lang="en" sz="1800">
                <a:solidFill>
                  <a:srgbClr val="5E696C"/>
                </a:solidFill>
                <a:latin typeface="Lato"/>
                <a:ea typeface="Lato"/>
                <a:cs typeface="Lato"/>
                <a:sym typeface="Lato"/>
              </a:rPr>
              <a:t>By illustrating the cardiovascular system and detailing a variety of information about heart conditions, we would like to Raise awareness</a:t>
            </a:r>
            <a:endParaRPr sz="1800">
              <a:solidFill>
                <a:srgbClr val="5E696C"/>
              </a:solidFill>
              <a:latin typeface="Lato"/>
              <a:ea typeface="Lato"/>
              <a:cs typeface="Lato"/>
              <a:sym typeface="Lato"/>
            </a:endParaRPr>
          </a:p>
          <a:p>
            <a:pPr marL="457200" lvl="0" indent="-342900" algn="l" rtl="0">
              <a:lnSpc>
                <a:spcPct val="115000"/>
              </a:lnSpc>
              <a:spcBef>
                <a:spcPts val="0"/>
              </a:spcBef>
              <a:spcAft>
                <a:spcPts val="0"/>
              </a:spcAft>
              <a:buClr>
                <a:srgbClr val="5E696C"/>
              </a:buClr>
              <a:buSzPts val="1800"/>
              <a:buFont typeface="Lato"/>
              <a:buChar char="●"/>
            </a:pPr>
            <a:r>
              <a:rPr lang="en" sz="1800">
                <a:solidFill>
                  <a:srgbClr val="5E696C"/>
                </a:solidFill>
                <a:latin typeface="Lato"/>
                <a:ea typeface="Lato"/>
                <a:cs typeface="Lato"/>
                <a:sym typeface="Lato"/>
              </a:rPr>
              <a:t>Educates the public about the importance of heart health.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bea24af915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bea24af91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https://www.heart.org/en/news/2019/01/31/cardiovascular-diseases-affect-nearly-half-of-american-adults-statistics-show</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6a08a11398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6a08a1139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rgbClr val="595959"/>
                </a:solidFill>
              </a:rPr>
              <a:t>Introduce </a:t>
            </a:r>
            <a:r>
              <a:rPr lang="en" sz="1800" b="1">
                <a:solidFill>
                  <a:srgbClr val="595959"/>
                </a:solidFill>
              </a:rPr>
              <a:t>key questions</a:t>
            </a:r>
            <a:r>
              <a:rPr lang="en" sz="1800">
                <a:solidFill>
                  <a:srgbClr val="595959"/>
                </a:solidFill>
              </a:rPr>
              <a:t> that you attempted to address via your interactive article</a:t>
            </a:r>
            <a:endParaRPr sz="1800">
              <a:solidFill>
                <a:srgbClr val="595959"/>
              </a:solidFill>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bed453da2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bed453da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bed453da2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bed453da2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bed453da24_3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bed453da24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bed453da2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bed453da2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bed453da24_6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bed453da24_6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bed453da2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bed453da2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5E696C"/>
              </a:buClr>
              <a:buSzPts val="1400"/>
              <a:buChar char="-"/>
            </a:pPr>
            <a:r>
              <a:rPr lang="en" sz="1400">
                <a:solidFill>
                  <a:srgbClr val="5E696C"/>
                </a:solidFill>
              </a:rPr>
              <a:t>Slider allows the viewer to filter the years to see the changes over a certain time period</a:t>
            </a:r>
            <a:endParaRPr sz="1400">
              <a:solidFill>
                <a:srgbClr val="5E696C"/>
              </a:solidFill>
            </a:endParaRPr>
          </a:p>
          <a:p>
            <a:pPr marL="457200" lvl="0" indent="-317500" algn="l" rtl="0">
              <a:lnSpc>
                <a:spcPct val="115000"/>
              </a:lnSpc>
              <a:spcBef>
                <a:spcPts val="0"/>
              </a:spcBef>
              <a:spcAft>
                <a:spcPts val="0"/>
              </a:spcAft>
              <a:buClr>
                <a:srgbClr val="5E696C"/>
              </a:buClr>
              <a:buSzPts val="1400"/>
              <a:buChar char="-"/>
            </a:pPr>
            <a:r>
              <a:rPr lang="en" sz="1400">
                <a:solidFill>
                  <a:srgbClr val="5E696C"/>
                </a:solidFill>
              </a:rPr>
              <a:t>Hovering over each state will reveal the specific number of heart disease associated mortalities for that year.</a:t>
            </a:r>
            <a:endParaRPr sz="1400">
              <a:solidFill>
                <a:srgbClr val="5E696C"/>
              </a:solidFill>
            </a:endParaRPr>
          </a:p>
          <a:p>
            <a:pPr marL="457200" lvl="0" indent="-317500" algn="l" rtl="0">
              <a:lnSpc>
                <a:spcPct val="115000"/>
              </a:lnSpc>
              <a:spcBef>
                <a:spcPts val="0"/>
              </a:spcBef>
              <a:spcAft>
                <a:spcPts val="0"/>
              </a:spcAft>
              <a:buClr>
                <a:srgbClr val="5E696C"/>
              </a:buClr>
              <a:buSzPts val="1400"/>
              <a:buChar char="-"/>
            </a:pPr>
            <a:r>
              <a:rPr lang="en" sz="1400">
                <a:solidFill>
                  <a:srgbClr val="5E696C"/>
                </a:solidFill>
              </a:rPr>
              <a:t>Click on a state or bar to highlight its corresponding counterpart, and double click to deselect.</a:t>
            </a:r>
            <a:endParaRPr sz="1400">
              <a:solidFill>
                <a:srgbClr val="5E696C"/>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bed453da2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bed453da24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5E696C"/>
              </a:buClr>
              <a:buSzPts val="1400"/>
              <a:buChar cha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bed453da24_6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bed453da24_6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bed453da24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bed453da24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bed453da24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bed453da24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ed453da2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bed453da2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bed453da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bed453da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992950" y="992700"/>
            <a:ext cx="3158100" cy="3158100"/>
          </a:xfrm>
          <a:prstGeom prst="rect">
            <a:avLst/>
          </a:prstGeom>
          <a:noFill/>
          <a:ln w="28575"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096250" y="1627200"/>
            <a:ext cx="2951400" cy="1584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a:endParaRPr/>
          </a:p>
        </p:txBody>
      </p:sp>
      <p:sp>
        <p:nvSpPr>
          <p:cNvPr id="13" name="Google Shape;13;p2"/>
          <p:cNvSpPr txBox="1">
            <a:spLocks noGrp="1"/>
          </p:cNvSpPr>
          <p:nvPr>
            <p:ph type="subTitle" idx="1"/>
          </p:nvPr>
        </p:nvSpPr>
        <p:spPr>
          <a:xfrm>
            <a:off x="3096363" y="3266930"/>
            <a:ext cx="2951400" cy="701400"/>
          </a:xfrm>
          <a:prstGeom prst="rect">
            <a:avLst/>
          </a:prstGeom>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9pPr>
          </a:lstStyle>
          <a:p>
            <a:endParaRPr/>
          </a:p>
        </p:txBody>
      </p:sp>
      <p:sp>
        <p:nvSpPr>
          <p:cNvPr id="14" name="Google Shape;14;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09550" y="1423875"/>
            <a:ext cx="8124900" cy="1798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17" name="Google Shape;17;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91378"/>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1" name="Google Shape;41;p9"/>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1233100"/>
            <a:ext cx="8520600" cy="161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a:spLocks noGrp="1"/>
          </p:cNvSpPr>
          <p:nvPr>
            <p:ph type="body" idx="1"/>
          </p:nvPr>
        </p:nvSpPr>
        <p:spPr>
          <a:xfrm>
            <a:off x="311700" y="29194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oral">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91350"/>
            <a:ext cx="8520600" cy="6261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observablehq.com/d/436687aff3067647"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www.cdc.gov/nchs/pressroom/sosmap/heart_disease_mortality/heart_disease.htm" TargetMode="External"/><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hyperlink" Target="https://health.data.ny.gov/Health/Hospital-Inpatient-Cost-Transparency-Beginning-200/7dtz-qxmr/data" TargetMode="External"/><Relationship Id="rId4" Type="http://schemas.openxmlformats.org/officeDocument/2006/relationships/hyperlink" Target="https://catalog.data.gov/dataset/rates-and-trends-in-heart-disease-and-stroke-mortality-among-us-adults-35-by-county-a-2000-45659"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video" Target="https://www.youtube.com/embed/Nc4ei0kIN0g?feature=oembed" TargetMode="Externa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ideo" Target="https://www.youtube.com/embed/z3ks1Q3azEg?feature=oembed" TargetMode="Externa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video" Target="https://www.youtube.com/embed/19aQ6GqWDzQ?feature=oembed" TargetMode="Externa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video" Target="https://www.youtube.com/embed/12mdhz21vfQ?feature=oembed" TargetMode="Externa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video" Target="https://www.youtube.com/embed/FlByF9aPbEA?feature=oembed" TargetMode="Externa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3"/>
          <p:cNvPicPr preferRelativeResize="0"/>
          <p:nvPr/>
        </p:nvPicPr>
        <p:blipFill>
          <a:blip r:embed="rId3">
            <a:alphaModFix/>
          </a:blip>
          <a:stretch>
            <a:fillRect/>
          </a:stretch>
        </p:blipFill>
        <p:spPr>
          <a:xfrm>
            <a:off x="3455951" y="1622451"/>
            <a:ext cx="2069707" cy="2020102"/>
          </a:xfrm>
          <a:prstGeom prst="rect">
            <a:avLst/>
          </a:prstGeom>
          <a:noFill/>
          <a:ln>
            <a:noFill/>
          </a:ln>
        </p:spPr>
      </p:pic>
      <p:sp>
        <p:nvSpPr>
          <p:cNvPr id="60" name="Google Shape;60;p13"/>
          <p:cNvSpPr txBox="1">
            <a:spLocks noGrp="1"/>
          </p:cNvSpPr>
          <p:nvPr>
            <p:ph type="ctrTitle" idx="4294967295"/>
          </p:nvPr>
        </p:nvSpPr>
        <p:spPr>
          <a:xfrm>
            <a:off x="1857550" y="535800"/>
            <a:ext cx="5266500" cy="7614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None/>
            </a:pPr>
            <a:r>
              <a:rPr lang="en">
                <a:solidFill>
                  <a:schemeClr val="lt1"/>
                </a:solidFill>
                <a:latin typeface="Oswald SemiBold"/>
                <a:ea typeface="Oswald SemiBold"/>
                <a:cs typeface="Oswald SemiBold"/>
                <a:sym typeface="Oswald SemiBold"/>
              </a:rPr>
              <a:t>Interactive Circulatory System</a:t>
            </a:r>
            <a:endParaRPr>
              <a:solidFill>
                <a:schemeClr val="lt1"/>
              </a:solidFill>
              <a:latin typeface="Oswald SemiBold"/>
              <a:ea typeface="Oswald SemiBold"/>
              <a:cs typeface="Oswald SemiBold"/>
              <a:sym typeface="Oswald SemiBold"/>
            </a:endParaRPr>
          </a:p>
          <a:p>
            <a:pPr marL="0" lvl="0" indent="0" algn="ctr" rtl="0">
              <a:lnSpc>
                <a:spcPct val="115000"/>
              </a:lnSpc>
              <a:spcBef>
                <a:spcPts val="300"/>
              </a:spcBef>
              <a:spcAft>
                <a:spcPts val="300"/>
              </a:spcAft>
              <a:buNone/>
            </a:pPr>
            <a:r>
              <a:rPr lang="en" sz="1988" b="0" u="sng">
                <a:solidFill>
                  <a:schemeClr val="lt1"/>
                </a:solidFill>
                <a:latin typeface="Arial"/>
                <a:ea typeface="Arial"/>
                <a:cs typeface="Arial"/>
                <a:sym typeface="Arial"/>
                <a:hlinkClick r:id="rId4">
                  <a:extLst>
                    <a:ext uri="{A12FA001-AC4F-418D-AE19-62706E023703}">
                      <ahyp:hlinkClr xmlns:ahyp="http://schemas.microsoft.com/office/drawing/2018/hyperlinkcolor" val="tx"/>
                    </a:ext>
                  </a:extLst>
                </a:hlinkClick>
              </a:rPr>
              <a:t>https://observablehq.com/d/436687aff3067647</a:t>
            </a:r>
            <a:endParaRPr sz="4088">
              <a:solidFill>
                <a:schemeClr val="lt1"/>
              </a:solidFill>
              <a:latin typeface="Oswald SemiBold"/>
              <a:ea typeface="Oswald SemiBold"/>
              <a:cs typeface="Oswald SemiBold"/>
              <a:sym typeface="Oswald SemiBold"/>
            </a:endParaRPr>
          </a:p>
        </p:txBody>
      </p:sp>
      <p:sp>
        <p:nvSpPr>
          <p:cNvPr id="61" name="Google Shape;61;p13"/>
          <p:cNvSpPr txBox="1"/>
          <p:nvPr/>
        </p:nvSpPr>
        <p:spPr>
          <a:xfrm>
            <a:off x="1105275" y="3716550"/>
            <a:ext cx="1488600" cy="116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lt1"/>
                </a:solidFill>
                <a:latin typeface="Oswald"/>
                <a:ea typeface="Oswald"/>
                <a:cs typeface="Oswald"/>
                <a:sym typeface="Oswald"/>
              </a:rPr>
              <a:t>Kensho Gendzwill</a:t>
            </a:r>
            <a:br>
              <a:rPr lang="en" sz="1600">
                <a:solidFill>
                  <a:schemeClr val="lt1"/>
                </a:solidFill>
                <a:latin typeface="Oswald"/>
                <a:ea typeface="Oswald"/>
                <a:cs typeface="Oswald"/>
                <a:sym typeface="Oswald"/>
              </a:rPr>
            </a:br>
            <a:r>
              <a:rPr lang="en" sz="1600">
                <a:solidFill>
                  <a:schemeClr val="lt1"/>
                </a:solidFill>
                <a:latin typeface="Oswald Light"/>
                <a:ea typeface="Oswald Light"/>
                <a:cs typeface="Oswald Light"/>
                <a:sym typeface="Oswald Light"/>
              </a:rPr>
              <a:t>Bioengineering</a:t>
            </a:r>
            <a:endParaRPr sz="1600">
              <a:solidFill>
                <a:schemeClr val="lt1"/>
              </a:solidFill>
              <a:latin typeface="Oswald Light"/>
              <a:ea typeface="Oswald Light"/>
              <a:cs typeface="Oswald Light"/>
              <a:sym typeface="Oswald Light"/>
            </a:endParaRPr>
          </a:p>
          <a:p>
            <a:pPr marL="0" lvl="0" indent="0" algn="ctr" rtl="0">
              <a:spcBef>
                <a:spcPts val="0"/>
              </a:spcBef>
              <a:spcAft>
                <a:spcPts val="0"/>
              </a:spcAft>
              <a:buNone/>
            </a:pPr>
            <a:r>
              <a:rPr lang="en" sz="1600">
                <a:solidFill>
                  <a:schemeClr val="lt1"/>
                </a:solidFill>
                <a:latin typeface="Oswald Light"/>
                <a:ea typeface="Oswald Light"/>
                <a:cs typeface="Oswald Light"/>
                <a:sym typeface="Oswald Light"/>
              </a:rPr>
              <a:t>kenshog@uw.edu</a:t>
            </a:r>
            <a:endParaRPr sz="1600">
              <a:solidFill>
                <a:schemeClr val="lt1"/>
              </a:solidFill>
              <a:latin typeface="Oswald Light"/>
              <a:ea typeface="Oswald Light"/>
              <a:cs typeface="Oswald Light"/>
              <a:sym typeface="Oswald Light"/>
            </a:endParaRPr>
          </a:p>
          <a:p>
            <a:pPr marL="0" lvl="0" indent="0" algn="ctr" rtl="0">
              <a:spcBef>
                <a:spcPts val="0"/>
              </a:spcBef>
              <a:spcAft>
                <a:spcPts val="0"/>
              </a:spcAft>
              <a:buNone/>
            </a:pPr>
            <a:endParaRPr sz="1600">
              <a:solidFill>
                <a:schemeClr val="lt1"/>
              </a:solidFill>
              <a:latin typeface="Oswald Light"/>
              <a:ea typeface="Oswald Light"/>
              <a:cs typeface="Oswald Light"/>
              <a:sym typeface="Oswald Light"/>
            </a:endParaRPr>
          </a:p>
        </p:txBody>
      </p:sp>
      <p:sp>
        <p:nvSpPr>
          <p:cNvPr id="62" name="Google Shape;62;p13"/>
          <p:cNvSpPr txBox="1"/>
          <p:nvPr/>
        </p:nvSpPr>
        <p:spPr>
          <a:xfrm>
            <a:off x="2866092" y="3716550"/>
            <a:ext cx="1488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600">
                <a:solidFill>
                  <a:schemeClr val="lt1"/>
                </a:solidFill>
                <a:latin typeface="Oswald"/>
                <a:ea typeface="Oswald"/>
                <a:cs typeface="Oswald"/>
                <a:sym typeface="Oswald"/>
              </a:rPr>
              <a:t>Benjamin Han</a:t>
            </a:r>
            <a:br>
              <a:rPr lang="en" sz="1600">
                <a:solidFill>
                  <a:schemeClr val="lt1"/>
                </a:solidFill>
                <a:latin typeface="Oswald"/>
                <a:ea typeface="Oswald"/>
                <a:cs typeface="Oswald"/>
                <a:sym typeface="Oswald"/>
              </a:rPr>
            </a:br>
            <a:r>
              <a:rPr lang="en" sz="1600">
                <a:solidFill>
                  <a:schemeClr val="lt1"/>
                </a:solidFill>
                <a:latin typeface="Oswald Light"/>
                <a:ea typeface="Oswald Light"/>
                <a:cs typeface="Oswald Light"/>
                <a:sym typeface="Oswald Light"/>
              </a:rPr>
              <a:t>Bioengineering</a:t>
            </a:r>
            <a:endParaRPr sz="1600">
              <a:solidFill>
                <a:schemeClr val="lt1"/>
              </a:solidFill>
              <a:latin typeface="Oswald Light"/>
              <a:ea typeface="Oswald Light"/>
              <a:cs typeface="Oswald Light"/>
              <a:sym typeface="Oswald Light"/>
            </a:endParaRPr>
          </a:p>
          <a:p>
            <a:pPr marL="0" lvl="0" indent="0" algn="ctr" rtl="0">
              <a:spcBef>
                <a:spcPts val="0"/>
              </a:spcBef>
              <a:spcAft>
                <a:spcPts val="0"/>
              </a:spcAft>
              <a:buClr>
                <a:schemeClr val="dk1"/>
              </a:buClr>
              <a:buSzPts val="1100"/>
              <a:buFont typeface="Arial"/>
              <a:buNone/>
            </a:pPr>
            <a:r>
              <a:rPr lang="en" sz="1600">
                <a:solidFill>
                  <a:schemeClr val="lt1"/>
                </a:solidFill>
                <a:latin typeface="Oswald Light"/>
                <a:ea typeface="Oswald Light"/>
                <a:cs typeface="Oswald Light"/>
                <a:sym typeface="Oswald Light"/>
              </a:rPr>
              <a:t>bhan830@uw.edu</a:t>
            </a:r>
            <a:endParaRPr sz="1600">
              <a:solidFill>
                <a:schemeClr val="lt1"/>
              </a:solidFill>
              <a:latin typeface="Oswald Light"/>
              <a:ea typeface="Oswald Light"/>
              <a:cs typeface="Oswald Light"/>
              <a:sym typeface="Oswald Light"/>
            </a:endParaRPr>
          </a:p>
        </p:txBody>
      </p:sp>
      <p:sp>
        <p:nvSpPr>
          <p:cNvPr id="63" name="Google Shape;63;p13"/>
          <p:cNvSpPr txBox="1"/>
          <p:nvPr/>
        </p:nvSpPr>
        <p:spPr>
          <a:xfrm>
            <a:off x="4626908" y="3716550"/>
            <a:ext cx="14886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Yuki Kuo</a:t>
            </a:r>
            <a:br>
              <a:rPr lang="en" sz="1000">
                <a:solidFill>
                  <a:schemeClr val="lt1"/>
                </a:solidFill>
                <a:latin typeface="Roboto"/>
                <a:ea typeface="Roboto"/>
                <a:cs typeface="Roboto"/>
                <a:sym typeface="Roboto"/>
              </a:rPr>
            </a:br>
            <a:r>
              <a:rPr lang="en" sz="1600">
                <a:solidFill>
                  <a:schemeClr val="lt1"/>
                </a:solidFill>
                <a:latin typeface="Oswald Light"/>
                <a:ea typeface="Oswald Light"/>
                <a:cs typeface="Oswald Light"/>
                <a:sym typeface="Oswald Light"/>
              </a:rPr>
              <a:t>Bioengineering</a:t>
            </a:r>
            <a:endParaRPr sz="1600">
              <a:solidFill>
                <a:schemeClr val="lt1"/>
              </a:solidFill>
              <a:latin typeface="Oswald Light"/>
              <a:ea typeface="Oswald Light"/>
              <a:cs typeface="Oswald Light"/>
              <a:sym typeface="Oswald Light"/>
            </a:endParaRPr>
          </a:p>
          <a:p>
            <a:pPr marL="0" marR="0" lvl="0" indent="0" algn="ctr" rtl="0">
              <a:lnSpc>
                <a:spcPct val="100000"/>
              </a:lnSpc>
              <a:spcBef>
                <a:spcPts val="0"/>
              </a:spcBef>
              <a:spcAft>
                <a:spcPts val="0"/>
              </a:spcAft>
              <a:buNone/>
            </a:pPr>
            <a:r>
              <a:rPr lang="en" sz="1600">
                <a:solidFill>
                  <a:schemeClr val="lt1"/>
                </a:solidFill>
                <a:latin typeface="Oswald Light"/>
                <a:ea typeface="Oswald Light"/>
                <a:cs typeface="Oswald Light"/>
                <a:sym typeface="Oswald Light"/>
              </a:rPr>
              <a:t>yutzukuo@uw.edu</a:t>
            </a:r>
            <a:endParaRPr sz="1600">
              <a:solidFill>
                <a:schemeClr val="lt1"/>
              </a:solidFill>
              <a:latin typeface="Oswald Light"/>
              <a:ea typeface="Oswald Light"/>
              <a:cs typeface="Oswald Light"/>
              <a:sym typeface="Oswald Light"/>
            </a:endParaRPr>
          </a:p>
        </p:txBody>
      </p:sp>
      <p:sp>
        <p:nvSpPr>
          <p:cNvPr id="64" name="Google Shape;64;p13"/>
          <p:cNvSpPr txBox="1"/>
          <p:nvPr/>
        </p:nvSpPr>
        <p:spPr>
          <a:xfrm>
            <a:off x="6387725" y="3716550"/>
            <a:ext cx="1488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600">
                <a:solidFill>
                  <a:schemeClr val="lt1"/>
                </a:solidFill>
                <a:latin typeface="Oswald"/>
                <a:ea typeface="Oswald"/>
                <a:cs typeface="Oswald"/>
                <a:sym typeface="Oswald"/>
              </a:rPr>
              <a:t>Vicky Yeh</a:t>
            </a:r>
            <a:br>
              <a:rPr lang="en" sz="1000">
                <a:solidFill>
                  <a:schemeClr val="lt1"/>
                </a:solidFill>
                <a:latin typeface="Roboto"/>
                <a:ea typeface="Roboto"/>
                <a:cs typeface="Roboto"/>
                <a:sym typeface="Roboto"/>
              </a:rPr>
            </a:br>
            <a:r>
              <a:rPr lang="en" sz="1600">
                <a:solidFill>
                  <a:schemeClr val="lt1"/>
                </a:solidFill>
                <a:latin typeface="Oswald Light"/>
                <a:ea typeface="Oswald Light"/>
                <a:cs typeface="Oswald Light"/>
                <a:sym typeface="Oswald Light"/>
              </a:rPr>
              <a:t>Bioengineering</a:t>
            </a:r>
            <a:endParaRPr sz="1600">
              <a:solidFill>
                <a:schemeClr val="lt1"/>
              </a:solidFill>
              <a:latin typeface="Oswald Light"/>
              <a:ea typeface="Oswald Light"/>
              <a:cs typeface="Oswald Light"/>
              <a:sym typeface="Oswald Light"/>
            </a:endParaRPr>
          </a:p>
          <a:p>
            <a:pPr marL="0" lvl="0" indent="0" algn="ctr" rtl="0">
              <a:spcBef>
                <a:spcPts val="0"/>
              </a:spcBef>
              <a:spcAft>
                <a:spcPts val="0"/>
              </a:spcAft>
              <a:buClr>
                <a:schemeClr val="dk1"/>
              </a:buClr>
              <a:buSzPts val="1100"/>
              <a:buFont typeface="Arial"/>
              <a:buNone/>
            </a:pPr>
            <a:r>
              <a:rPr lang="en" sz="1600">
                <a:solidFill>
                  <a:schemeClr val="lt1"/>
                </a:solidFill>
                <a:latin typeface="Oswald Light"/>
                <a:ea typeface="Oswald Light"/>
                <a:cs typeface="Oswald Light"/>
                <a:sym typeface="Oswald Light"/>
              </a:rPr>
              <a:t>shuyiyeh@uw.edu</a:t>
            </a:r>
            <a:endParaRPr sz="1600">
              <a:solidFill>
                <a:schemeClr val="lt1"/>
              </a:solidFill>
              <a:latin typeface="Oswald Light"/>
              <a:ea typeface="Oswald Light"/>
              <a:cs typeface="Oswald Light"/>
              <a:sym typeface="Oswal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Project Goal</a:t>
            </a:r>
            <a:endParaRPr>
              <a:latin typeface="Oswald"/>
              <a:ea typeface="Oswald"/>
              <a:cs typeface="Oswald"/>
              <a:sym typeface="Oswald"/>
            </a:endParaRPr>
          </a:p>
        </p:txBody>
      </p:sp>
      <p:sp>
        <p:nvSpPr>
          <p:cNvPr id="70" name="Google Shape;70;p14"/>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Our project aims to illustrate the human cardiovascular system and various associated heart conditions through visual diagrams and interactive charts. Through interaction with the diagrams, we intend to provide an initial understanding and concept of different heart diseases to the audience.</a:t>
            </a:r>
            <a:endParaRPr/>
          </a:p>
        </p:txBody>
      </p:sp>
      <p:pic>
        <p:nvPicPr>
          <p:cNvPr id="71" name="Google Shape;71;p14"/>
          <p:cNvPicPr preferRelativeResize="0"/>
          <p:nvPr/>
        </p:nvPicPr>
        <p:blipFill>
          <a:blip r:embed="rId3">
            <a:alphaModFix/>
          </a:blip>
          <a:stretch>
            <a:fillRect/>
          </a:stretch>
        </p:blipFill>
        <p:spPr>
          <a:xfrm>
            <a:off x="4572000" y="575725"/>
            <a:ext cx="4260300" cy="4260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Project Motivation</a:t>
            </a:r>
            <a:endParaRPr>
              <a:latin typeface="Oswald"/>
              <a:ea typeface="Oswald"/>
              <a:cs typeface="Oswald"/>
              <a:sym typeface="Oswald"/>
            </a:endParaRPr>
          </a:p>
        </p:txBody>
      </p:sp>
      <p:sp>
        <p:nvSpPr>
          <p:cNvPr id="77" name="Google Shape;77;p15"/>
          <p:cNvSpPr txBox="1">
            <a:spLocks noGrp="1"/>
          </p:cNvSpPr>
          <p:nvPr>
            <p:ph type="body" idx="1"/>
          </p:nvPr>
        </p:nvSpPr>
        <p:spPr>
          <a:xfrm>
            <a:off x="311700" y="118345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Why is this project </a:t>
            </a:r>
            <a:r>
              <a:rPr lang="en" b="1"/>
              <a:t>important</a:t>
            </a:r>
            <a:r>
              <a:rPr lang="en"/>
              <a:t>?</a:t>
            </a:r>
            <a:endParaRPr/>
          </a:p>
          <a:p>
            <a:pPr marL="457200" lvl="0" indent="-342900" algn="l" rtl="0">
              <a:lnSpc>
                <a:spcPct val="150000"/>
              </a:lnSpc>
              <a:spcBef>
                <a:spcPts val="1200"/>
              </a:spcBef>
              <a:spcAft>
                <a:spcPts val="0"/>
              </a:spcAft>
              <a:buSzPts val="1800"/>
              <a:buChar char="●"/>
            </a:pPr>
            <a:r>
              <a:rPr lang="en"/>
              <a:t>Many people suffer from heart disease around the world</a:t>
            </a:r>
            <a:endParaRPr/>
          </a:p>
          <a:p>
            <a:pPr marL="457200" lvl="0" indent="-342900" algn="l" rtl="0">
              <a:lnSpc>
                <a:spcPct val="150000"/>
              </a:lnSpc>
              <a:spcBef>
                <a:spcPts val="0"/>
              </a:spcBef>
              <a:spcAft>
                <a:spcPts val="0"/>
              </a:spcAft>
              <a:buSzPts val="1800"/>
              <a:buChar char="●"/>
            </a:pPr>
            <a:r>
              <a:rPr lang="en"/>
              <a:t>We would like to raise awareness and understanding of heart disease</a:t>
            </a:r>
            <a:endParaRPr/>
          </a:p>
          <a:p>
            <a:pPr marL="457200" lvl="0" indent="-342900" algn="l" rtl="0">
              <a:lnSpc>
                <a:spcPct val="150000"/>
              </a:lnSpc>
              <a:spcBef>
                <a:spcPts val="0"/>
              </a:spcBef>
              <a:spcAft>
                <a:spcPts val="0"/>
              </a:spcAft>
              <a:buSzPts val="1800"/>
              <a:buChar char="●"/>
            </a:pPr>
            <a:r>
              <a:rPr lang="en"/>
              <a:t>Educates the public about the importance of heart health</a:t>
            </a:r>
            <a:endParaRPr sz="1400"/>
          </a:p>
        </p:txBody>
      </p:sp>
      <p:pic>
        <p:nvPicPr>
          <p:cNvPr id="78" name="Google Shape;78;p15"/>
          <p:cNvPicPr preferRelativeResize="0"/>
          <p:nvPr/>
        </p:nvPicPr>
        <p:blipFill>
          <a:blip r:embed="rId3">
            <a:alphaModFix/>
          </a:blip>
          <a:stretch>
            <a:fillRect/>
          </a:stretch>
        </p:blipFill>
        <p:spPr>
          <a:xfrm>
            <a:off x="1310366" y="2876575"/>
            <a:ext cx="6523274" cy="2174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Project Motivation</a:t>
            </a:r>
            <a:endParaRPr>
              <a:latin typeface="Oswald"/>
              <a:ea typeface="Oswald"/>
              <a:cs typeface="Oswald"/>
              <a:sym typeface="Oswald"/>
            </a:endParaRPr>
          </a:p>
        </p:txBody>
      </p:sp>
      <p:sp>
        <p:nvSpPr>
          <p:cNvPr id="84" name="Google Shape;84;p16"/>
          <p:cNvSpPr txBox="1">
            <a:spLocks noGrp="1"/>
          </p:cNvSpPr>
          <p:nvPr>
            <p:ph type="body" idx="1"/>
          </p:nvPr>
        </p:nvSpPr>
        <p:spPr>
          <a:xfrm>
            <a:off x="311700" y="12018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does it relate to </a:t>
            </a:r>
            <a:r>
              <a:rPr lang="en" b="1"/>
              <a:t>social and/or scientific importance</a:t>
            </a:r>
            <a:r>
              <a:rPr lang="en"/>
              <a:t>?</a:t>
            </a:r>
            <a:endParaRPr/>
          </a:p>
          <a:p>
            <a:pPr marL="0" lvl="0" indent="0" algn="l" rtl="0">
              <a:spcBef>
                <a:spcPts val="1200"/>
              </a:spcBef>
              <a:spcAft>
                <a:spcPts val="1200"/>
              </a:spcAft>
              <a:buNone/>
            </a:pPr>
            <a:endParaRPr sz="1400"/>
          </a:p>
        </p:txBody>
      </p:sp>
      <p:pic>
        <p:nvPicPr>
          <p:cNvPr id="85" name="Google Shape;85;p16"/>
          <p:cNvPicPr preferRelativeResize="0"/>
          <p:nvPr/>
        </p:nvPicPr>
        <p:blipFill rotWithShape="1">
          <a:blip r:embed="rId3">
            <a:alphaModFix/>
          </a:blip>
          <a:srcRect l="5920" t="69452" r="8893"/>
          <a:stretch/>
        </p:blipFill>
        <p:spPr>
          <a:xfrm>
            <a:off x="311700" y="1771900"/>
            <a:ext cx="8520600" cy="22763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Key Questions</a:t>
            </a:r>
            <a:endParaRPr>
              <a:latin typeface="Oswald"/>
              <a:ea typeface="Oswald"/>
              <a:cs typeface="Oswald"/>
              <a:sym typeface="Oswald"/>
            </a:endParaRPr>
          </a:p>
        </p:txBody>
      </p:sp>
      <p:sp>
        <p:nvSpPr>
          <p:cNvPr id="91" name="Google Shape;9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What are </a:t>
            </a:r>
            <a:r>
              <a:rPr lang="en" b="1"/>
              <a:t>the most common diseases</a:t>
            </a:r>
            <a:r>
              <a:rPr lang="en"/>
              <a:t> related to specific heart regions?</a:t>
            </a:r>
            <a:endParaRPr/>
          </a:p>
          <a:p>
            <a:pPr marL="457200" lvl="0" indent="-342900" algn="l" rtl="0">
              <a:spcBef>
                <a:spcPts val="1000"/>
              </a:spcBef>
              <a:spcAft>
                <a:spcPts val="0"/>
              </a:spcAft>
              <a:buSzPts val="1800"/>
              <a:buChar char="●"/>
            </a:pPr>
            <a:r>
              <a:rPr lang="en"/>
              <a:t>What are the </a:t>
            </a:r>
            <a:r>
              <a:rPr lang="en" b="1"/>
              <a:t>causes </a:t>
            </a:r>
            <a:r>
              <a:rPr lang="en"/>
              <a:t>of heart disease?</a:t>
            </a:r>
            <a:endParaRPr/>
          </a:p>
          <a:p>
            <a:pPr marL="457200" lvl="0" indent="-342900" algn="l" rtl="0">
              <a:spcBef>
                <a:spcPts val="1000"/>
              </a:spcBef>
              <a:spcAft>
                <a:spcPts val="0"/>
              </a:spcAft>
              <a:buSzPts val="1800"/>
              <a:buChar char="●"/>
            </a:pPr>
            <a:r>
              <a:rPr lang="en"/>
              <a:t>What are the </a:t>
            </a:r>
            <a:r>
              <a:rPr lang="en" b="1"/>
              <a:t>main risk factors</a:t>
            </a:r>
            <a:r>
              <a:rPr lang="en"/>
              <a:t> of the disease?</a:t>
            </a:r>
            <a:endParaRPr/>
          </a:p>
          <a:p>
            <a:pPr marL="457200" lvl="0" indent="-342900" algn="l" rtl="0">
              <a:spcBef>
                <a:spcPts val="1000"/>
              </a:spcBef>
              <a:spcAft>
                <a:spcPts val="0"/>
              </a:spcAft>
              <a:buSzPts val="1800"/>
              <a:buChar char="●"/>
            </a:pPr>
            <a:r>
              <a:rPr lang="en"/>
              <a:t>What is the prevalence or </a:t>
            </a:r>
            <a:r>
              <a:rPr lang="en" b="1"/>
              <a:t>mortality </a:t>
            </a:r>
            <a:r>
              <a:rPr lang="en"/>
              <a:t>of heart disease </a:t>
            </a:r>
            <a:r>
              <a:rPr lang="en" b="1"/>
              <a:t>among different states</a:t>
            </a:r>
            <a:r>
              <a:rPr lang="en"/>
              <a:t> in the United States of America?</a:t>
            </a:r>
            <a:endParaRPr/>
          </a:p>
          <a:p>
            <a:pPr marL="457200" lvl="0" indent="-342900" algn="l" rtl="0">
              <a:spcBef>
                <a:spcPts val="1000"/>
              </a:spcBef>
              <a:spcAft>
                <a:spcPts val="0"/>
              </a:spcAft>
              <a:buSzPts val="1800"/>
              <a:buChar char="●"/>
            </a:pPr>
            <a:r>
              <a:rPr lang="en"/>
              <a:t>How are individuals of different </a:t>
            </a:r>
            <a:r>
              <a:rPr lang="en" b="1"/>
              <a:t>genders</a:t>
            </a:r>
            <a:r>
              <a:rPr lang="en"/>
              <a:t> and </a:t>
            </a:r>
            <a:r>
              <a:rPr lang="en" b="1"/>
              <a:t>races/ethnicities</a:t>
            </a:r>
            <a:r>
              <a:rPr lang="en"/>
              <a:t> affected by heart disease?</a:t>
            </a:r>
            <a:endParaRPr/>
          </a:p>
          <a:p>
            <a:pPr marL="457200" lvl="0" indent="-342900" algn="l" rtl="0">
              <a:spcBef>
                <a:spcPts val="1000"/>
              </a:spcBef>
              <a:spcAft>
                <a:spcPts val="1000"/>
              </a:spcAft>
              <a:buSzPts val="1800"/>
              <a:buChar char="●"/>
            </a:pPr>
            <a:r>
              <a:rPr lang="en"/>
              <a:t>How has </a:t>
            </a:r>
            <a:r>
              <a:rPr lang="en" b="1"/>
              <a:t>the medical cost</a:t>
            </a:r>
            <a:r>
              <a:rPr lang="en"/>
              <a:t> for treating heart disease changed over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Approach and Audience</a:t>
            </a:r>
            <a:endParaRPr>
              <a:latin typeface="Oswald"/>
              <a:ea typeface="Oswald"/>
              <a:cs typeface="Oswald"/>
              <a:sym typeface="Oswald"/>
            </a:endParaRPr>
          </a:p>
        </p:txBody>
      </p:sp>
      <p:sp>
        <p:nvSpPr>
          <p:cNvPr id="97" name="Google Shape;97;p18"/>
          <p:cNvSpPr txBox="1">
            <a:spLocks noGrp="1"/>
          </p:cNvSpPr>
          <p:nvPr>
            <p:ph type="body" idx="1"/>
          </p:nvPr>
        </p:nvSpPr>
        <p:spPr>
          <a:xfrm>
            <a:off x="311700" y="1152475"/>
            <a:ext cx="8520600" cy="3732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Technologies:</a:t>
            </a:r>
            <a:endParaRPr/>
          </a:p>
          <a:p>
            <a:pPr marL="457200" lvl="0" indent="-342900" algn="l" rtl="0">
              <a:spcBef>
                <a:spcPts val="1200"/>
              </a:spcBef>
              <a:spcAft>
                <a:spcPts val="0"/>
              </a:spcAft>
              <a:buSzPts val="1800"/>
              <a:buChar char="●"/>
            </a:pPr>
            <a:r>
              <a:rPr lang="en"/>
              <a:t>Used </a:t>
            </a:r>
            <a:r>
              <a:rPr lang="en" b="1"/>
              <a:t>p5 </a:t>
            </a:r>
            <a:r>
              <a:rPr lang="en"/>
              <a:t>to generate a interactive cardiovascular diseases information diagram</a:t>
            </a:r>
            <a:endParaRPr/>
          </a:p>
          <a:p>
            <a:pPr marL="457200" lvl="0" indent="-342900" algn="l" rtl="0">
              <a:spcBef>
                <a:spcPts val="0"/>
              </a:spcBef>
              <a:spcAft>
                <a:spcPts val="0"/>
              </a:spcAft>
              <a:buSzPts val="1800"/>
              <a:buChar char="●"/>
            </a:pPr>
            <a:r>
              <a:rPr lang="en"/>
              <a:t>Used </a:t>
            </a:r>
            <a:r>
              <a:rPr lang="en" b="1"/>
              <a:t>vega lite</a:t>
            </a:r>
            <a:r>
              <a:rPr lang="en"/>
              <a:t> to create charts for demographic and financial cost datasets</a:t>
            </a:r>
            <a:endParaRPr/>
          </a:p>
          <a:p>
            <a:pPr marL="914400" lvl="1" indent="-317500" algn="l" rtl="0">
              <a:spcBef>
                <a:spcPts val="0"/>
              </a:spcBef>
              <a:spcAft>
                <a:spcPts val="0"/>
              </a:spcAft>
              <a:buSzPts val="1400"/>
              <a:buChar char="○"/>
            </a:pPr>
            <a:r>
              <a:rPr lang="en"/>
              <a:t>Bar chart</a:t>
            </a:r>
            <a:endParaRPr/>
          </a:p>
          <a:p>
            <a:pPr marL="914400" lvl="1" indent="-317500" algn="l" rtl="0">
              <a:spcBef>
                <a:spcPts val="0"/>
              </a:spcBef>
              <a:spcAft>
                <a:spcPts val="0"/>
              </a:spcAft>
              <a:buSzPts val="1400"/>
              <a:buChar char="○"/>
            </a:pPr>
            <a:r>
              <a:rPr lang="en"/>
              <a:t>Choropleth chart</a:t>
            </a:r>
            <a:endParaRPr/>
          </a:p>
          <a:p>
            <a:pPr marL="914400" lvl="1" indent="-317500" algn="l" rtl="0">
              <a:spcBef>
                <a:spcPts val="0"/>
              </a:spcBef>
              <a:spcAft>
                <a:spcPts val="0"/>
              </a:spcAft>
              <a:buSzPts val="1400"/>
              <a:buChar char="○"/>
            </a:pPr>
            <a:r>
              <a:rPr lang="en"/>
              <a:t>Line chart</a:t>
            </a:r>
            <a:endParaRPr/>
          </a:p>
          <a:p>
            <a:pPr marL="0" lvl="0" indent="0" algn="l" rtl="0">
              <a:spcBef>
                <a:spcPts val="1200"/>
              </a:spcBef>
              <a:spcAft>
                <a:spcPts val="0"/>
              </a:spcAft>
              <a:buNone/>
            </a:pPr>
            <a:r>
              <a:rPr lang="en" b="1"/>
              <a:t>Intended audience:</a:t>
            </a:r>
            <a:endParaRPr b="1"/>
          </a:p>
          <a:p>
            <a:pPr marL="457200" lvl="0" indent="-342900" algn="l" rtl="0">
              <a:spcBef>
                <a:spcPts val="1200"/>
              </a:spcBef>
              <a:spcAft>
                <a:spcPts val="0"/>
              </a:spcAft>
              <a:buSzPts val="1800"/>
              <a:buChar char="●"/>
            </a:pPr>
            <a:r>
              <a:rPr lang="en"/>
              <a:t>Individuals seeking deeper understanding of cardiovascular diseases</a:t>
            </a:r>
            <a:endParaRPr/>
          </a:p>
          <a:p>
            <a:pPr marL="914400" lvl="1" indent="-317500" algn="l" rtl="0">
              <a:spcBef>
                <a:spcPts val="0"/>
              </a:spcBef>
              <a:spcAft>
                <a:spcPts val="0"/>
              </a:spcAft>
              <a:buSzPts val="1400"/>
              <a:buChar char="○"/>
            </a:pPr>
            <a:r>
              <a:rPr lang="en"/>
              <a:t>Students studying medicine</a:t>
            </a:r>
            <a:endParaRPr/>
          </a:p>
          <a:p>
            <a:pPr marL="914400" lvl="1" indent="-317500" algn="l" rtl="0">
              <a:spcBef>
                <a:spcPts val="0"/>
              </a:spcBef>
              <a:spcAft>
                <a:spcPts val="0"/>
              </a:spcAft>
              <a:buSzPts val="1400"/>
              <a:buChar char="○"/>
            </a:pPr>
            <a:r>
              <a:rPr lang="en"/>
              <a:t>People who are experiencing or know someone who is experiencing heart problems </a:t>
            </a:r>
            <a:endParaRPr/>
          </a:p>
        </p:txBody>
      </p:sp>
      <p:pic>
        <p:nvPicPr>
          <p:cNvPr id="98" name="Google Shape;98;p18"/>
          <p:cNvPicPr preferRelativeResize="0"/>
          <p:nvPr/>
        </p:nvPicPr>
        <p:blipFill>
          <a:blip r:embed="rId3">
            <a:alphaModFix/>
          </a:blip>
          <a:stretch>
            <a:fillRect/>
          </a:stretch>
        </p:blipFill>
        <p:spPr>
          <a:xfrm>
            <a:off x="7192825" y="391338"/>
            <a:ext cx="1639475" cy="1235075"/>
          </a:xfrm>
          <a:prstGeom prst="rect">
            <a:avLst/>
          </a:prstGeom>
          <a:noFill/>
          <a:ln>
            <a:noFill/>
          </a:ln>
        </p:spPr>
      </p:pic>
      <p:pic>
        <p:nvPicPr>
          <p:cNvPr id="99" name="Google Shape;99;p18"/>
          <p:cNvPicPr preferRelativeResize="0"/>
          <p:nvPr/>
        </p:nvPicPr>
        <p:blipFill>
          <a:blip r:embed="rId4">
            <a:alphaModFix/>
          </a:blip>
          <a:stretch>
            <a:fillRect/>
          </a:stretch>
        </p:blipFill>
        <p:spPr>
          <a:xfrm>
            <a:off x="5800049" y="391350"/>
            <a:ext cx="1185650" cy="1235050"/>
          </a:xfrm>
          <a:prstGeom prst="rect">
            <a:avLst/>
          </a:prstGeom>
          <a:noFill/>
          <a:ln>
            <a:noFill/>
          </a:ln>
        </p:spPr>
      </p:pic>
      <p:pic>
        <p:nvPicPr>
          <p:cNvPr id="100" name="Google Shape;100;p18"/>
          <p:cNvPicPr preferRelativeResize="0"/>
          <p:nvPr/>
        </p:nvPicPr>
        <p:blipFill rotWithShape="1">
          <a:blip r:embed="rId5">
            <a:alphaModFix/>
          </a:blip>
          <a:srcRect l="12928" r="13150" b="25345"/>
          <a:stretch/>
        </p:blipFill>
        <p:spPr>
          <a:xfrm>
            <a:off x="4370000" y="391350"/>
            <a:ext cx="1222932" cy="1235050"/>
          </a:xfrm>
          <a:prstGeom prst="rect">
            <a:avLst/>
          </a:prstGeom>
          <a:noFill/>
          <a:ln>
            <a:noFill/>
          </a:ln>
        </p:spPr>
      </p:pic>
      <p:pic>
        <p:nvPicPr>
          <p:cNvPr id="101" name="Google Shape;101;p18"/>
          <p:cNvPicPr preferRelativeResize="0"/>
          <p:nvPr/>
        </p:nvPicPr>
        <p:blipFill>
          <a:blip r:embed="rId6">
            <a:alphaModFix/>
          </a:blip>
          <a:stretch>
            <a:fillRect/>
          </a:stretch>
        </p:blipFill>
        <p:spPr>
          <a:xfrm>
            <a:off x="4181719" y="2400950"/>
            <a:ext cx="2191844" cy="123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Oswald"/>
                <a:ea typeface="Oswald"/>
                <a:cs typeface="Oswald"/>
                <a:sym typeface="Oswald"/>
              </a:rPr>
              <a:t>Datasets</a:t>
            </a:r>
            <a:endParaRPr>
              <a:latin typeface="Oswald"/>
              <a:ea typeface="Oswald"/>
              <a:cs typeface="Oswald"/>
              <a:sym typeface="Oswald"/>
            </a:endParaRPr>
          </a:p>
        </p:txBody>
      </p:sp>
      <p:sp>
        <p:nvSpPr>
          <p:cNvPr id="107" name="Google Shape;107;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u="sng"/>
              <a:t>Datasets selected from authorized organizations:</a:t>
            </a:r>
            <a:endParaRPr u="sng"/>
          </a:p>
          <a:p>
            <a:pPr marL="0" lvl="0" indent="0" algn="l" rtl="0">
              <a:spcBef>
                <a:spcPts val="1200"/>
              </a:spcBef>
              <a:spcAft>
                <a:spcPts val="0"/>
              </a:spcAft>
              <a:buNone/>
            </a:pPr>
            <a:r>
              <a:rPr lang="en" b="1"/>
              <a:t>CDC (Centers for Disease Control and Prevention)</a:t>
            </a:r>
            <a:endParaRPr b="1"/>
          </a:p>
          <a:p>
            <a:pPr marL="0" lvl="0" indent="0" algn="l" rtl="0">
              <a:spcBef>
                <a:spcPts val="1200"/>
              </a:spcBef>
              <a:spcAft>
                <a:spcPts val="0"/>
              </a:spcAft>
              <a:buNone/>
            </a:pPr>
            <a:r>
              <a:rPr lang="en"/>
              <a:t>Heart disease mortality data available at: </a:t>
            </a:r>
            <a:r>
              <a:rPr lang="en" u="sng">
                <a:solidFill>
                  <a:schemeClr val="hlink"/>
                </a:solidFill>
                <a:hlinkClick r:id="rId3"/>
              </a:rPr>
              <a:t>CDC Heart Disease Mortality</a:t>
            </a:r>
            <a:endParaRPr/>
          </a:p>
          <a:p>
            <a:pPr marL="0" lvl="0" indent="0" algn="l" rtl="0">
              <a:spcBef>
                <a:spcPts val="1200"/>
              </a:spcBef>
              <a:spcAft>
                <a:spcPts val="0"/>
              </a:spcAft>
              <a:buNone/>
            </a:pPr>
            <a:r>
              <a:rPr lang="en" b="1"/>
              <a:t>USDHHS (U.S. Department of Health and Human Services)</a:t>
            </a:r>
            <a:endParaRPr b="1"/>
          </a:p>
          <a:p>
            <a:pPr marL="0" lvl="0" indent="0" algn="l" rtl="0">
              <a:spcBef>
                <a:spcPts val="1200"/>
              </a:spcBef>
              <a:spcAft>
                <a:spcPts val="0"/>
              </a:spcAft>
              <a:buNone/>
            </a:pPr>
            <a:r>
              <a:rPr lang="en"/>
              <a:t>Rates and trends in heart disease and stroke mortality among U.S. adults 35+ by county data available at: </a:t>
            </a:r>
            <a:r>
              <a:rPr lang="en" u="sng">
                <a:solidFill>
                  <a:schemeClr val="hlink"/>
                </a:solidFill>
                <a:hlinkClick r:id="rId4"/>
              </a:rPr>
              <a:t>Rates and Trends in Heart Disease and Stroke Mortality</a:t>
            </a:r>
            <a:endParaRPr/>
          </a:p>
          <a:p>
            <a:pPr marL="0" lvl="0" indent="0" algn="l" rtl="0">
              <a:spcBef>
                <a:spcPts val="1200"/>
              </a:spcBef>
              <a:spcAft>
                <a:spcPts val="0"/>
              </a:spcAft>
              <a:buNone/>
            </a:pPr>
            <a:r>
              <a:rPr lang="en" b="1"/>
              <a:t>New York State Department of Health</a:t>
            </a:r>
            <a:endParaRPr b="1"/>
          </a:p>
          <a:p>
            <a:pPr marL="0" lvl="0" indent="0" algn="l" rtl="0">
              <a:spcBef>
                <a:spcPts val="1200"/>
              </a:spcBef>
              <a:spcAft>
                <a:spcPts val="1200"/>
              </a:spcAft>
              <a:buNone/>
            </a:pPr>
            <a:r>
              <a:rPr lang="en"/>
              <a:t>Medical cost for treating heart disease complication data available at: </a:t>
            </a:r>
            <a:r>
              <a:rPr lang="en" u="sng">
                <a:solidFill>
                  <a:schemeClr val="hlink"/>
                </a:solidFill>
                <a:hlinkClick r:id="rId5"/>
              </a:rPr>
              <a:t>Hospital Inpatient Cost Transparency: Beginning 2009</a:t>
            </a:r>
            <a:endParaRPr b="1"/>
          </a:p>
        </p:txBody>
      </p:sp>
      <p:pic>
        <p:nvPicPr>
          <p:cNvPr id="108" name="Google Shape;108;p19"/>
          <p:cNvPicPr preferRelativeResize="0"/>
          <p:nvPr/>
        </p:nvPicPr>
        <p:blipFill>
          <a:blip r:embed="rId6">
            <a:alphaModFix/>
          </a:blip>
          <a:stretch>
            <a:fillRect/>
          </a:stretch>
        </p:blipFill>
        <p:spPr>
          <a:xfrm>
            <a:off x="5364375" y="391350"/>
            <a:ext cx="1457174" cy="1457174"/>
          </a:xfrm>
          <a:prstGeom prst="rect">
            <a:avLst/>
          </a:prstGeom>
          <a:noFill/>
          <a:ln>
            <a:noFill/>
          </a:ln>
        </p:spPr>
      </p:pic>
      <p:pic>
        <p:nvPicPr>
          <p:cNvPr id="109" name="Google Shape;109;p19"/>
          <p:cNvPicPr preferRelativeResize="0"/>
          <p:nvPr/>
        </p:nvPicPr>
        <p:blipFill>
          <a:blip r:embed="rId7">
            <a:alphaModFix/>
          </a:blip>
          <a:stretch>
            <a:fillRect/>
          </a:stretch>
        </p:blipFill>
        <p:spPr>
          <a:xfrm>
            <a:off x="7134600" y="1152475"/>
            <a:ext cx="1457175" cy="1457175"/>
          </a:xfrm>
          <a:prstGeom prst="rect">
            <a:avLst/>
          </a:prstGeom>
          <a:noFill/>
          <a:ln>
            <a:noFill/>
          </a:ln>
        </p:spPr>
      </p:pic>
      <p:pic>
        <p:nvPicPr>
          <p:cNvPr id="110" name="Google Shape;110;p19"/>
          <p:cNvPicPr preferRelativeResize="0"/>
          <p:nvPr/>
        </p:nvPicPr>
        <p:blipFill>
          <a:blip r:embed="rId8">
            <a:alphaModFix/>
          </a:blip>
          <a:stretch>
            <a:fillRect/>
          </a:stretch>
        </p:blipFill>
        <p:spPr>
          <a:xfrm>
            <a:off x="4772650" y="4209323"/>
            <a:ext cx="2640624" cy="82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67200" y="287650"/>
            <a:ext cx="8409600" cy="12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What are the most common diseases related to specific heart regions? What are the causes and main risk factors of heart disease?</a:t>
            </a:r>
            <a:endParaRPr sz="2400"/>
          </a:p>
        </p:txBody>
      </p:sp>
      <p:pic>
        <p:nvPicPr>
          <p:cNvPr id="116" name="Google Shape;116;p20"/>
          <p:cNvPicPr preferRelativeResize="0"/>
          <p:nvPr/>
        </p:nvPicPr>
        <p:blipFill>
          <a:blip r:embed="rId3">
            <a:alphaModFix/>
          </a:blip>
          <a:stretch>
            <a:fillRect/>
          </a:stretch>
        </p:blipFill>
        <p:spPr>
          <a:xfrm>
            <a:off x="1414738" y="1646527"/>
            <a:ext cx="6314527" cy="3166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1: Information Diagram</a:t>
            </a:r>
            <a:endParaRPr/>
          </a:p>
        </p:txBody>
      </p:sp>
      <p:sp>
        <p:nvSpPr>
          <p:cNvPr id="122" name="Google Shape;122;p21"/>
          <p:cNvSpPr txBox="1"/>
          <p:nvPr/>
        </p:nvSpPr>
        <p:spPr>
          <a:xfrm>
            <a:off x="115675" y="1345800"/>
            <a:ext cx="3629100" cy="30771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Char char="-"/>
            </a:pPr>
            <a:r>
              <a:rPr lang="en" sz="1600" b="1">
                <a:solidFill>
                  <a:schemeClr val="dk2"/>
                </a:solidFill>
              </a:rPr>
              <a:t>Click on the labels for disease details:</a:t>
            </a:r>
            <a:endParaRPr sz="1600" b="1">
              <a:solidFill>
                <a:schemeClr val="dk2"/>
              </a:solidFill>
            </a:endParaRPr>
          </a:p>
          <a:p>
            <a:pPr marL="914400" lvl="1" indent="-330200" algn="l" rtl="0">
              <a:lnSpc>
                <a:spcPct val="115000"/>
              </a:lnSpc>
              <a:spcBef>
                <a:spcPts val="0"/>
              </a:spcBef>
              <a:spcAft>
                <a:spcPts val="0"/>
              </a:spcAft>
              <a:buClr>
                <a:schemeClr val="dk2"/>
              </a:buClr>
              <a:buSzPts val="1600"/>
              <a:buChar char="-"/>
            </a:pPr>
            <a:r>
              <a:rPr lang="en" sz="1600">
                <a:solidFill>
                  <a:schemeClr val="dk2"/>
                </a:solidFill>
              </a:rPr>
              <a:t>Causes</a:t>
            </a:r>
            <a:endParaRPr sz="1600">
              <a:solidFill>
                <a:schemeClr val="dk2"/>
              </a:solidFill>
            </a:endParaRPr>
          </a:p>
          <a:p>
            <a:pPr marL="914400" lvl="1" indent="-330200" algn="l" rtl="0">
              <a:lnSpc>
                <a:spcPct val="115000"/>
              </a:lnSpc>
              <a:spcBef>
                <a:spcPts val="0"/>
              </a:spcBef>
              <a:spcAft>
                <a:spcPts val="0"/>
              </a:spcAft>
              <a:buClr>
                <a:schemeClr val="dk2"/>
              </a:buClr>
              <a:buSzPts val="1600"/>
              <a:buChar char="-"/>
            </a:pPr>
            <a:r>
              <a:rPr lang="en" sz="1600">
                <a:solidFill>
                  <a:schemeClr val="dk2"/>
                </a:solidFill>
              </a:rPr>
              <a:t>Symptoms</a:t>
            </a:r>
            <a:endParaRPr sz="1600">
              <a:solidFill>
                <a:schemeClr val="dk2"/>
              </a:solidFill>
            </a:endParaRPr>
          </a:p>
          <a:p>
            <a:pPr marL="914400" lvl="1" indent="-330200" algn="l" rtl="0">
              <a:lnSpc>
                <a:spcPct val="115000"/>
              </a:lnSpc>
              <a:spcBef>
                <a:spcPts val="0"/>
              </a:spcBef>
              <a:spcAft>
                <a:spcPts val="0"/>
              </a:spcAft>
              <a:buClr>
                <a:schemeClr val="dk2"/>
              </a:buClr>
              <a:buSzPts val="1600"/>
              <a:buChar char="-"/>
            </a:pPr>
            <a:r>
              <a:rPr lang="en" sz="1600">
                <a:solidFill>
                  <a:schemeClr val="dk2"/>
                </a:solidFill>
              </a:rPr>
              <a:t>Risk factors</a:t>
            </a:r>
            <a:endParaRPr sz="1600">
              <a:solidFill>
                <a:schemeClr val="dk2"/>
              </a:solidFill>
            </a:endParaRPr>
          </a:p>
          <a:p>
            <a:pPr marL="914400" lvl="1" indent="-330200" algn="l" rtl="0">
              <a:lnSpc>
                <a:spcPct val="115000"/>
              </a:lnSpc>
              <a:spcBef>
                <a:spcPts val="0"/>
              </a:spcBef>
              <a:spcAft>
                <a:spcPts val="0"/>
              </a:spcAft>
              <a:buClr>
                <a:schemeClr val="dk2"/>
              </a:buClr>
              <a:buSzPts val="1600"/>
              <a:buChar char="-"/>
            </a:pPr>
            <a:r>
              <a:rPr lang="en" sz="1600">
                <a:solidFill>
                  <a:schemeClr val="dk2"/>
                </a:solidFill>
              </a:rPr>
              <a:t>Complications </a:t>
            </a:r>
            <a:endParaRPr sz="1600">
              <a:solidFill>
                <a:schemeClr val="dk2"/>
              </a:solidFill>
            </a:endParaRPr>
          </a:p>
          <a:p>
            <a:pPr marL="0" lvl="0" indent="0" algn="l" rtl="0">
              <a:lnSpc>
                <a:spcPct val="115000"/>
              </a:lnSpc>
              <a:spcBef>
                <a:spcPts val="0"/>
              </a:spcBef>
              <a:spcAft>
                <a:spcPts val="0"/>
              </a:spcAft>
              <a:buNone/>
            </a:pPr>
            <a:endParaRPr>
              <a:solidFill>
                <a:schemeClr val="dk2"/>
              </a:solidFill>
            </a:endParaRPr>
          </a:p>
          <a:p>
            <a:pPr marL="457200" lvl="0" indent="-342900" algn="l" rtl="0">
              <a:lnSpc>
                <a:spcPct val="115000"/>
              </a:lnSpc>
              <a:spcBef>
                <a:spcPts val="0"/>
              </a:spcBef>
              <a:spcAft>
                <a:spcPts val="0"/>
              </a:spcAft>
              <a:buClr>
                <a:schemeClr val="dk2"/>
              </a:buClr>
              <a:buSzPts val="1800"/>
              <a:buChar char="-"/>
            </a:pPr>
            <a:r>
              <a:rPr lang="en" sz="1600" b="1">
                <a:solidFill>
                  <a:schemeClr val="dk2"/>
                </a:solidFill>
              </a:rPr>
              <a:t>Blood vessels change</a:t>
            </a:r>
            <a:r>
              <a:rPr lang="en" sz="1600">
                <a:solidFill>
                  <a:schemeClr val="dk2"/>
                </a:solidFill>
              </a:rPr>
              <a:t> to indicate disease impact on veins, arteries, or both</a:t>
            </a:r>
            <a:endParaRPr sz="1600">
              <a:solidFill>
                <a:schemeClr val="dk2"/>
              </a:solidFill>
            </a:endParaRPr>
          </a:p>
        </p:txBody>
      </p:sp>
      <p:pic>
        <p:nvPicPr>
          <p:cNvPr id="3" name="Online Media 2" title="human body">
            <a:hlinkClick r:id="" action="ppaction://media"/>
            <a:extLst>
              <a:ext uri="{FF2B5EF4-FFF2-40B4-BE49-F238E27FC236}">
                <a16:creationId xmlns:a16="http://schemas.microsoft.com/office/drawing/2014/main" id="{44B01717-AA94-CC18-12C9-8C6D89834657}"/>
              </a:ext>
            </a:extLst>
          </p:cNvPr>
          <p:cNvPicPr>
            <a:picLocks noRot="1" noChangeAspect="1"/>
          </p:cNvPicPr>
          <p:nvPr>
            <a:videoFile r:link="rId1"/>
          </p:nvPr>
        </p:nvPicPr>
        <p:blipFill>
          <a:blip r:embed="rId4"/>
          <a:stretch>
            <a:fillRect/>
          </a:stretch>
        </p:blipFill>
        <p:spPr>
          <a:xfrm>
            <a:off x="4143432" y="1587640"/>
            <a:ext cx="4600308" cy="25991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67200" y="189225"/>
            <a:ext cx="8409600" cy="96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What is the prevalence or mortality of heart disease among different states in the United States of America?</a:t>
            </a:r>
            <a:endParaRPr sz="2400"/>
          </a:p>
        </p:txBody>
      </p:sp>
      <p:pic>
        <p:nvPicPr>
          <p:cNvPr id="129" name="Google Shape;129;p22"/>
          <p:cNvPicPr preferRelativeResize="0"/>
          <p:nvPr/>
        </p:nvPicPr>
        <p:blipFill>
          <a:blip r:embed="rId3">
            <a:alphaModFix/>
          </a:blip>
          <a:stretch>
            <a:fillRect/>
          </a:stretch>
        </p:blipFill>
        <p:spPr>
          <a:xfrm>
            <a:off x="367200" y="1205950"/>
            <a:ext cx="4850125" cy="1944300"/>
          </a:xfrm>
          <a:prstGeom prst="rect">
            <a:avLst/>
          </a:prstGeom>
          <a:noFill/>
          <a:ln>
            <a:noFill/>
          </a:ln>
        </p:spPr>
      </p:pic>
      <p:pic>
        <p:nvPicPr>
          <p:cNvPr id="130" name="Google Shape;130;p22"/>
          <p:cNvPicPr preferRelativeResize="0"/>
          <p:nvPr/>
        </p:nvPicPr>
        <p:blipFill>
          <a:blip r:embed="rId4">
            <a:alphaModFix/>
          </a:blip>
          <a:stretch>
            <a:fillRect/>
          </a:stretch>
        </p:blipFill>
        <p:spPr>
          <a:xfrm>
            <a:off x="4023175" y="2988421"/>
            <a:ext cx="4850125" cy="195615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2: Deaths by States</a:t>
            </a:r>
            <a:endParaRPr/>
          </a:p>
        </p:txBody>
      </p:sp>
      <p:sp>
        <p:nvSpPr>
          <p:cNvPr id="137" name="Google Shape;137;p23"/>
          <p:cNvSpPr txBox="1"/>
          <p:nvPr/>
        </p:nvSpPr>
        <p:spPr>
          <a:xfrm>
            <a:off x="311700" y="1017725"/>
            <a:ext cx="3629100" cy="38391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Char char="-"/>
            </a:pPr>
            <a:r>
              <a:rPr lang="en" sz="1600" b="1">
                <a:solidFill>
                  <a:schemeClr val="dk2"/>
                </a:solidFill>
              </a:rPr>
              <a:t>Slider: </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Filter the years to see the changes over a certain time period</a:t>
            </a:r>
            <a:endParaRPr sz="1600">
              <a:solidFill>
                <a:schemeClr val="dk2"/>
              </a:solidFill>
            </a:endParaRPr>
          </a:p>
          <a:p>
            <a:pPr marL="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Tooltip: </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Reveal the specific number of heart disease associated mortalities for that year</a:t>
            </a:r>
            <a:endParaRPr sz="1600">
              <a:solidFill>
                <a:schemeClr val="dk2"/>
              </a:solidFill>
            </a:endParaRPr>
          </a:p>
          <a:p>
            <a:pPr marL="45720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Click on a state or bar: </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Highlight its corresponding counterpart</a:t>
            </a:r>
            <a:endParaRPr sz="1600">
              <a:solidFill>
                <a:schemeClr val="dk2"/>
              </a:solidFill>
            </a:endParaRPr>
          </a:p>
        </p:txBody>
      </p:sp>
      <p:pic>
        <p:nvPicPr>
          <p:cNvPr id="2" name="Online Media 1" title="deaths">
            <a:hlinkClick r:id="" action="ppaction://media"/>
            <a:extLst>
              <a:ext uri="{FF2B5EF4-FFF2-40B4-BE49-F238E27FC236}">
                <a16:creationId xmlns:a16="http://schemas.microsoft.com/office/drawing/2014/main" id="{E6D6A470-AF76-C4E8-A03B-F9B9D5C4AE2B}"/>
              </a:ext>
            </a:extLst>
          </p:cNvPr>
          <p:cNvPicPr>
            <a:picLocks noRot="1" noChangeAspect="1"/>
          </p:cNvPicPr>
          <p:nvPr>
            <a:videoFile r:link="rId1"/>
          </p:nvPr>
        </p:nvPicPr>
        <p:blipFill>
          <a:blip r:embed="rId4"/>
          <a:stretch>
            <a:fillRect/>
          </a:stretch>
        </p:blipFill>
        <p:spPr>
          <a:xfrm>
            <a:off x="4014316" y="1596962"/>
            <a:ext cx="4614587" cy="26072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3: Mortality Rate by State</a:t>
            </a:r>
            <a:endParaRPr/>
          </a:p>
        </p:txBody>
      </p:sp>
      <p:sp>
        <p:nvSpPr>
          <p:cNvPr id="144" name="Google Shape;144;p24"/>
          <p:cNvSpPr txBox="1"/>
          <p:nvPr/>
        </p:nvSpPr>
        <p:spPr>
          <a:xfrm>
            <a:off x="311700" y="1259250"/>
            <a:ext cx="3629100" cy="32502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Char char="-"/>
            </a:pPr>
            <a:r>
              <a:rPr lang="en" sz="1600">
                <a:solidFill>
                  <a:schemeClr val="dk2"/>
                </a:solidFill>
              </a:rPr>
              <a:t>Change death number to mortality rate </a:t>
            </a:r>
            <a:endParaRPr sz="1600">
              <a:solidFill>
                <a:schemeClr val="dk2"/>
              </a:solidFill>
            </a:endParaRPr>
          </a:p>
          <a:p>
            <a:pPr marL="45720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a:solidFill>
                  <a:schemeClr val="dk2"/>
                </a:solidFill>
              </a:rPr>
              <a:t>Raw death numbers can be misleading due to variations in state populations.</a:t>
            </a:r>
            <a:endParaRPr sz="1600">
              <a:solidFill>
                <a:schemeClr val="dk2"/>
              </a:solidFill>
            </a:endParaRPr>
          </a:p>
          <a:p>
            <a:pPr marL="45720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a:solidFill>
                  <a:schemeClr val="dk2"/>
                </a:solidFill>
              </a:rPr>
              <a:t>"</a:t>
            </a:r>
            <a:r>
              <a:rPr lang="en" sz="1600" b="1">
                <a:solidFill>
                  <a:schemeClr val="dk2"/>
                </a:solidFill>
              </a:rPr>
              <a:t>The rate per 100,000 population</a:t>
            </a:r>
            <a:r>
              <a:rPr lang="en" sz="1600">
                <a:solidFill>
                  <a:schemeClr val="dk2"/>
                </a:solidFill>
              </a:rPr>
              <a:t>" is employed as a standardized baseline for comparison.</a:t>
            </a:r>
            <a:endParaRPr sz="1600">
              <a:solidFill>
                <a:schemeClr val="dk2"/>
              </a:solidFill>
            </a:endParaRPr>
          </a:p>
        </p:txBody>
      </p:sp>
      <p:pic>
        <p:nvPicPr>
          <p:cNvPr id="3" name="Online Media 2" title="mortality rate">
            <a:hlinkClick r:id="" action="ppaction://media"/>
            <a:extLst>
              <a:ext uri="{FF2B5EF4-FFF2-40B4-BE49-F238E27FC236}">
                <a16:creationId xmlns:a16="http://schemas.microsoft.com/office/drawing/2014/main" id="{71A7A48C-8C3E-4748-52C7-56D8D70890D8}"/>
              </a:ext>
            </a:extLst>
          </p:cNvPr>
          <p:cNvPicPr>
            <a:picLocks noRot="1" noChangeAspect="1"/>
          </p:cNvPicPr>
          <p:nvPr>
            <a:videoFile r:link="rId1"/>
          </p:nvPr>
        </p:nvPicPr>
        <p:blipFill>
          <a:blip r:embed="rId4"/>
          <a:stretch>
            <a:fillRect/>
          </a:stretch>
        </p:blipFill>
        <p:spPr>
          <a:xfrm>
            <a:off x="4038282" y="1562154"/>
            <a:ext cx="4680338" cy="26443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02450" y="1198200"/>
            <a:ext cx="2981700" cy="27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How are individuals of different genders and races/ethnicities affected by heart disease?</a:t>
            </a:r>
            <a:endParaRPr sz="2400"/>
          </a:p>
        </p:txBody>
      </p:sp>
      <p:pic>
        <p:nvPicPr>
          <p:cNvPr id="150" name="Google Shape;150;p25"/>
          <p:cNvPicPr preferRelativeResize="0"/>
          <p:nvPr/>
        </p:nvPicPr>
        <p:blipFill>
          <a:blip r:embed="rId3">
            <a:alphaModFix/>
          </a:blip>
          <a:stretch>
            <a:fillRect/>
          </a:stretch>
        </p:blipFill>
        <p:spPr>
          <a:xfrm>
            <a:off x="3034350" y="764875"/>
            <a:ext cx="5841352" cy="3613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4: Mortality by Demographic</a:t>
            </a:r>
            <a:endParaRPr/>
          </a:p>
        </p:txBody>
      </p:sp>
      <p:sp>
        <p:nvSpPr>
          <p:cNvPr id="157" name="Google Shape;157;p26"/>
          <p:cNvSpPr txBox="1"/>
          <p:nvPr/>
        </p:nvSpPr>
        <p:spPr>
          <a:xfrm>
            <a:off x="188650" y="1227225"/>
            <a:ext cx="3638400" cy="33624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Char char="-"/>
            </a:pPr>
            <a:r>
              <a:rPr lang="en" sz="1600">
                <a:solidFill>
                  <a:schemeClr val="dk2"/>
                </a:solidFill>
              </a:rPr>
              <a:t>Grouped bar chart that displays the average mortality per 100,000 people</a:t>
            </a:r>
            <a:endParaRPr sz="1600">
              <a:solidFill>
                <a:schemeClr val="dk2"/>
              </a:solidFill>
            </a:endParaRPr>
          </a:p>
          <a:p>
            <a:pPr marL="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A drop-down menu: </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Display mean mortality by either gender or race/ethnicity</a:t>
            </a:r>
            <a:endParaRPr sz="1600">
              <a:solidFill>
                <a:schemeClr val="dk2"/>
              </a:solidFill>
            </a:endParaRPr>
          </a:p>
          <a:p>
            <a:pPr marL="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Three more drop-down menus: </a:t>
            </a:r>
            <a:r>
              <a:rPr lang="en" sz="1600">
                <a:solidFill>
                  <a:schemeClr val="dk2"/>
                </a:solidFill>
              </a:rPr>
              <a:t>Choose up to three states to visualize</a:t>
            </a:r>
            <a:endParaRPr>
              <a:solidFill>
                <a:schemeClr val="dk2"/>
              </a:solidFill>
            </a:endParaRPr>
          </a:p>
        </p:txBody>
      </p:sp>
      <p:pic>
        <p:nvPicPr>
          <p:cNvPr id="2" name="Online Media 1" title="Demographic Visualization">
            <a:hlinkClick r:id="" action="ppaction://media"/>
            <a:extLst>
              <a:ext uri="{FF2B5EF4-FFF2-40B4-BE49-F238E27FC236}">
                <a16:creationId xmlns:a16="http://schemas.microsoft.com/office/drawing/2014/main" id="{C6F9F872-6AE4-3D58-B008-3229AA5E0F47}"/>
              </a:ext>
            </a:extLst>
          </p:cNvPr>
          <p:cNvPicPr>
            <a:picLocks noRot="1" noChangeAspect="1"/>
          </p:cNvPicPr>
          <p:nvPr>
            <a:videoFile r:link="rId1"/>
          </p:nvPr>
        </p:nvPicPr>
        <p:blipFill>
          <a:blip r:embed="rId4"/>
          <a:stretch>
            <a:fillRect/>
          </a:stretch>
        </p:blipFill>
        <p:spPr>
          <a:xfrm>
            <a:off x="4201313" y="1157087"/>
            <a:ext cx="4576716" cy="34325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311700" y="445025"/>
            <a:ext cx="8520600" cy="86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How has the medical cost of treating heart disease changed over time?</a:t>
            </a:r>
            <a:endParaRPr sz="2400"/>
          </a:p>
        </p:txBody>
      </p:sp>
      <p:pic>
        <p:nvPicPr>
          <p:cNvPr id="163" name="Google Shape;163;p27"/>
          <p:cNvPicPr preferRelativeResize="0"/>
          <p:nvPr/>
        </p:nvPicPr>
        <p:blipFill rotWithShape="1">
          <a:blip r:embed="rId3">
            <a:alphaModFix/>
          </a:blip>
          <a:srcRect l="2846"/>
          <a:stretch/>
        </p:blipFill>
        <p:spPr>
          <a:xfrm>
            <a:off x="693788" y="1313525"/>
            <a:ext cx="7756426" cy="3676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2" name="Online Media 1" title="Medical Cost Visualization">
            <a:hlinkClick r:id="" action="ppaction://media"/>
            <a:extLst>
              <a:ext uri="{FF2B5EF4-FFF2-40B4-BE49-F238E27FC236}">
                <a16:creationId xmlns:a16="http://schemas.microsoft.com/office/drawing/2014/main" id="{8A4156A4-F6BB-1C4A-9960-34D57E44F24F}"/>
              </a:ext>
            </a:extLst>
          </p:cNvPr>
          <p:cNvPicPr>
            <a:picLocks noRot="1" noChangeAspect="1"/>
          </p:cNvPicPr>
          <p:nvPr>
            <a:videoFile r:link="rId1"/>
          </p:nvPr>
        </p:nvPicPr>
        <p:blipFill>
          <a:blip r:embed="rId4"/>
          <a:stretch>
            <a:fillRect/>
          </a:stretch>
        </p:blipFill>
        <p:spPr>
          <a:xfrm>
            <a:off x="4035533" y="1469300"/>
            <a:ext cx="4855221" cy="2743200"/>
          </a:xfrm>
          <a:prstGeom prst="rect">
            <a:avLst/>
          </a:prstGeom>
        </p:spPr>
      </p:pic>
      <p:sp>
        <p:nvSpPr>
          <p:cNvPr id="168" name="Google Shape;168;p28"/>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5: Cost of Treating Heart Disease </a:t>
            </a:r>
            <a:endParaRPr/>
          </a:p>
        </p:txBody>
      </p:sp>
      <p:sp>
        <p:nvSpPr>
          <p:cNvPr id="170" name="Google Shape;170;p28"/>
          <p:cNvSpPr txBox="1"/>
          <p:nvPr/>
        </p:nvSpPr>
        <p:spPr>
          <a:xfrm>
            <a:off x="213250" y="1301150"/>
            <a:ext cx="3637800" cy="30795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Char char="-"/>
            </a:pPr>
            <a:r>
              <a:rPr lang="en" sz="1600">
                <a:solidFill>
                  <a:schemeClr val="dk2"/>
                </a:solidFill>
              </a:rPr>
              <a:t>Line plot that displays the average cost for treating heart disease complications over time </a:t>
            </a:r>
            <a:endParaRPr sz="1600">
              <a:solidFill>
                <a:schemeClr val="dk2"/>
              </a:solidFill>
            </a:endParaRPr>
          </a:p>
          <a:p>
            <a:pPr marL="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Slider:</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Filter the year range</a:t>
            </a:r>
            <a:endParaRPr sz="1600">
              <a:solidFill>
                <a:schemeClr val="dk2"/>
              </a:solidFill>
            </a:endParaRPr>
          </a:p>
          <a:p>
            <a:pPr marL="0" lvl="0" indent="0" algn="l" rtl="0">
              <a:lnSpc>
                <a:spcPct val="115000"/>
              </a:lnSpc>
              <a:spcBef>
                <a:spcPts val="0"/>
              </a:spcBef>
              <a:spcAft>
                <a:spcPts val="0"/>
              </a:spcAft>
              <a:buNone/>
            </a:pPr>
            <a:endParaRPr sz="1600">
              <a:solidFill>
                <a:schemeClr val="dk2"/>
              </a:solidFill>
            </a:endParaRPr>
          </a:p>
          <a:p>
            <a:pPr marL="457200" lvl="0" indent="-330200" algn="l" rtl="0">
              <a:lnSpc>
                <a:spcPct val="115000"/>
              </a:lnSpc>
              <a:spcBef>
                <a:spcPts val="0"/>
              </a:spcBef>
              <a:spcAft>
                <a:spcPts val="0"/>
              </a:spcAft>
              <a:buClr>
                <a:schemeClr val="dk2"/>
              </a:buClr>
              <a:buSzPts val="1600"/>
              <a:buChar char="-"/>
            </a:pPr>
            <a:r>
              <a:rPr lang="en" sz="1600" b="1">
                <a:solidFill>
                  <a:schemeClr val="dk2"/>
                </a:solidFill>
              </a:rPr>
              <a:t>Interactable Legend:</a:t>
            </a:r>
            <a:endParaRPr sz="1600" b="1">
              <a:solidFill>
                <a:schemeClr val="dk2"/>
              </a:solidFill>
            </a:endParaRPr>
          </a:p>
          <a:p>
            <a:pPr marL="457200" lvl="0" indent="0" algn="l" rtl="0">
              <a:lnSpc>
                <a:spcPct val="115000"/>
              </a:lnSpc>
              <a:spcBef>
                <a:spcPts val="0"/>
              </a:spcBef>
              <a:spcAft>
                <a:spcPts val="0"/>
              </a:spcAft>
              <a:buNone/>
            </a:pPr>
            <a:r>
              <a:rPr lang="en" sz="1600">
                <a:solidFill>
                  <a:schemeClr val="dk2"/>
                </a:solidFill>
              </a:rPr>
              <a:t>Click on a specific heart condition to isolate a trendline</a:t>
            </a:r>
            <a:endParaRPr>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9"/>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4375"/>
              <a:buFont typeface="Arial"/>
              <a:buNone/>
            </a:pPr>
            <a:r>
              <a:rPr lang="en">
                <a:latin typeface="Oswald"/>
                <a:ea typeface="Oswald"/>
                <a:cs typeface="Oswald"/>
                <a:sym typeface="Oswald"/>
              </a:rPr>
              <a:t>Conclusion</a:t>
            </a:r>
            <a:endParaRPr/>
          </a:p>
        </p:txBody>
      </p:sp>
      <p:sp>
        <p:nvSpPr>
          <p:cNvPr id="176" name="Google Shape;176;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Limitations: </a:t>
            </a:r>
            <a:endParaRPr/>
          </a:p>
          <a:p>
            <a:pPr marL="457200" lvl="0" indent="-316706" algn="l" rtl="0">
              <a:spcBef>
                <a:spcPts val="1200"/>
              </a:spcBef>
              <a:spcAft>
                <a:spcPts val="0"/>
              </a:spcAft>
              <a:buSzPct val="100000"/>
              <a:buChar char="-"/>
            </a:pPr>
            <a:r>
              <a:rPr lang="en" sz="1500"/>
              <a:t>Medical cost data is only from New York State hospitals</a:t>
            </a:r>
            <a:endParaRPr sz="1500"/>
          </a:p>
          <a:p>
            <a:pPr marL="457200" lvl="0" indent="-316706" algn="l" rtl="0">
              <a:spcBef>
                <a:spcPts val="0"/>
              </a:spcBef>
              <a:spcAft>
                <a:spcPts val="0"/>
              </a:spcAft>
              <a:buSzPct val="100000"/>
              <a:buChar char="-"/>
            </a:pPr>
            <a:r>
              <a:rPr lang="en" sz="1500"/>
              <a:t>Mortality dataset only provides data from 2019</a:t>
            </a:r>
            <a:endParaRPr sz="1500"/>
          </a:p>
          <a:p>
            <a:pPr marL="0" lvl="0" indent="0" algn="l" rtl="0">
              <a:spcBef>
                <a:spcPts val="1200"/>
              </a:spcBef>
              <a:spcAft>
                <a:spcPts val="0"/>
              </a:spcAft>
              <a:buNone/>
            </a:pPr>
            <a:r>
              <a:rPr lang="en"/>
              <a:t>Future Work: </a:t>
            </a:r>
            <a:endParaRPr/>
          </a:p>
          <a:p>
            <a:pPr marL="457200" lvl="0" indent="-316706" algn="l" rtl="0">
              <a:spcBef>
                <a:spcPts val="1200"/>
              </a:spcBef>
              <a:spcAft>
                <a:spcPts val="0"/>
              </a:spcAft>
              <a:buSzPct val="100000"/>
              <a:buChar char="-"/>
            </a:pPr>
            <a:r>
              <a:rPr lang="en" sz="1500"/>
              <a:t>Further investigation of treatment cost using more general data</a:t>
            </a:r>
            <a:endParaRPr sz="1500"/>
          </a:p>
          <a:p>
            <a:pPr marL="457200" lvl="0" indent="-316706" algn="l" rtl="0">
              <a:spcBef>
                <a:spcPts val="0"/>
              </a:spcBef>
              <a:spcAft>
                <a:spcPts val="0"/>
              </a:spcAft>
              <a:buSzPct val="100000"/>
              <a:buChar char="-"/>
            </a:pPr>
            <a:r>
              <a:rPr lang="en" sz="1500"/>
              <a:t>Analysis of how certain risk factors affect prevalence of heart disease</a:t>
            </a:r>
            <a:endParaRPr sz="1500"/>
          </a:p>
          <a:p>
            <a:pPr marL="457200" lvl="0" indent="-316706" algn="l" rtl="0">
              <a:spcBef>
                <a:spcPts val="0"/>
              </a:spcBef>
              <a:spcAft>
                <a:spcPts val="0"/>
              </a:spcAft>
              <a:buSzPct val="100000"/>
              <a:buChar char="-"/>
            </a:pPr>
            <a:r>
              <a:rPr lang="en" sz="1500"/>
              <a:t>Additional improvements to circulatory system visual with charts within pop-up boxes</a:t>
            </a:r>
            <a:endParaRPr sz="1500"/>
          </a:p>
          <a:p>
            <a:pPr marL="0" lvl="0" indent="0" algn="l" rtl="0">
              <a:spcBef>
                <a:spcPts val="1200"/>
              </a:spcBef>
              <a:spcAft>
                <a:spcPts val="0"/>
              </a:spcAft>
              <a:buNone/>
            </a:pPr>
            <a:endParaRPr sz="1500"/>
          </a:p>
          <a:p>
            <a:pPr marL="0" lvl="0" indent="0" algn="l" rtl="0">
              <a:spcBef>
                <a:spcPts val="1200"/>
              </a:spcBef>
              <a:spcAft>
                <a:spcPts val="1200"/>
              </a:spcAft>
              <a:buNone/>
            </a:pPr>
            <a:r>
              <a:rPr lang="en" b="1"/>
              <a:t>In summary</a:t>
            </a:r>
            <a:r>
              <a:rPr lang="en"/>
              <a:t>, through interactive features in our notebook, readers can explore the cardiovascular system, learn about specific heart conditions, and delve into demographic disparities in disease prevalence.</a:t>
            </a:r>
            <a:endParaRPr/>
          </a:p>
        </p:txBody>
      </p:sp>
      <p:pic>
        <p:nvPicPr>
          <p:cNvPr id="177" name="Google Shape;177;p29"/>
          <p:cNvPicPr preferRelativeResize="0"/>
          <p:nvPr/>
        </p:nvPicPr>
        <p:blipFill>
          <a:blip r:embed="rId3">
            <a:alphaModFix/>
          </a:blip>
          <a:stretch>
            <a:fillRect/>
          </a:stretch>
        </p:blipFill>
        <p:spPr>
          <a:xfrm>
            <a:off x="5976550" y="391350"/>
            <a:ext cx="2460250" cy="2460250"/>
          </a:xfrm>
          <a:prstGeom prst="rect">
            <a:avLst/>
          </a:prstGeom>
          <a:noFill/>
          <a:ln>
            <a:noFill/>
          </a:ln>
        </p:spPr>
      </p:pic>
    </p:spTree>
  </p:cSld>
  <p:clrMapOvr>
    <a:masterClrMapping/>
  </p:clrMapOvr>
</p:sld>
</file>

<file path=ppt/theme/theme1.xml><?xml version="1.0" encoding="utf-8"?>
<a:theme xmlns:a="http://schemas.openxmlformats.org/drawingml/2006/main"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875</Words>
  <Application>Microsoft Office PowerPoint</Application>
  <PresentationFormat>On-screen Show (16:9)</PresentationFormat>
  <Paragraphs>108</Paragraphs>
  <Slides>17</Slides>
  <Notes>17</Notes>
  <HiddenSlides>0</HiddenSlides>
  <MMClips>5</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Oswald Light</vt:lpstr>
      <vt:lpstr>Roboto</vt:lpstr>
      <vt:lpstr>Lato</vt:lpstr>
      <vt:lpstr>Arial</vt:lpstr>
      <vt:lpstr>Oswald</vt:lpstr>
      <vt:lpstr>Oswald SemiBold</vt:lpstr>
      <vt:lpstr>Playfair Display</vt:lpstr>
      <vt:lpstr>Coral</vt:lpstr>
      <vt:lpstr>Interactive Circulatory System https://observablehq.com/d/436687aff3067647</vt:lpstr>
      <vt:lpstr>Project Goal</vt:lpstr>
      <vt:lpstr>Project Motivation</vt:lpstr>
      <vt:lpstr>Project Motivation</vt:lpstr>
      <vt:lpstr>Key Questions</vt:lpstr>
      <vt:lpstr>Approach and Audience</vt:lpstr>
      <vt:lpstr>Datasets</vt:lpstr>
      <vt:lpstr>What are the most common diseases related to specific heart regions? What are the causes and main risk factors of heart disease?</vt:lpstr>
      <vt:lpstr>Visualization 1: Information Diagram</vt:lpstr>
      <vt:lpstr>What is the prevalence or mortality of heart disease among different states in the United States of America?</vt:lpstr>
      <vt:lpstr>Visualization 2: Deaths by States</vt:lpstr>
      <vt:lpstr>Visualization 3: Mortality Rate by State</vt:lpstr>
      <vt:lpstr>How are individuals of different genders and races/ethnicities affected by heart disease?</vt:lpstr>
      <vt:lpstr>Visualization 4: Mortality by Demographic</vt:lpstr>
      <vt:lpstr>How has the medical cost of treating heart disease changed over time?</vt:lpstr>
      <vt:lpstr>Visualization 5: Cost of Treating Heart Disease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Interactive Circulatory System https://observablehq.com/d/436687aff3067647</dc:title>
  <cp:lastModifiedBy>Yuki Kuo</cp:lastModifiedBy>
  <cp:revision>2</cp:revision>
  <dcterms:modified xsi:type="dcterms:W3CDTF">2024-03-03T10:51:01Z</dcterms:modified>
</cp:coreProperties>
</file>